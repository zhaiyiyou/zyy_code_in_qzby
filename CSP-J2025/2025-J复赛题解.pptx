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60" r:id="rId5"/>
    <p:sldId id="258" r:id="rId6"/>
    <p:sldId id="262" r:id="rId7"/>
    <p:sldId id="259" r:id="rId8"/>
    <p:sldId id="264" r:id="rId9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3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拼数（number）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17140"/>
          </a:xfrm>
        </p:spPr>
        <p:txBody>
          <a:bodyPr/>
          <a:p>
            <a:r>
              <a:rPr lang="zh-CN" altLang="en-US"/>
              <a:t>字符串模拟</a:t>
            </a:r>
            <a:endParaRPr lang="zh-CN" altLang="en-US"/>
          </a:p>
          <a:p>
            <a:r>
              <a:rPr lang="zh-CN" altLang="en-US"/>
              <a:t>统计字符串中</a:t>
            </a:r>
            <a:r>
              <a:rPr lang="en-US" altLang="zh-CN"/>
              <a:t>0~9</a:t>
            </a:r>
            <a:r>
              <a:rPr lang="zh-CN" altLang="en-US"/>
              <a:t>的数字字符个数，然后按照</a:t>
            </a:r>
            <a:r>
              <a:rPr lang="en-US" altLang="zh-CN"/>
              <a:t>9-0</a:t>
            </a:r>
            <a:r>
              <a:rPr lang="zh-CN" altLang="en-US"/>
              <a:t>的顺序输出</a:t>
            </a:r>
            <a:r>
              <a:rPr lang="zh-CN" altLang="en-US"/>
              <a:t>即可。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注意此题不可用数值类型</a:t>
            </a:r>
            <a:r>
              <a:rPr lang="zh-CN" altLang="en-US"/>
              <a:t>存储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座位（seat）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n,m</a:t>
            </a:r>
            <a:r>
              <a:rPr lang="zh-CN" altLang="en-US"/>
              <a:t>在</a:t>
            </a:r>
            <a:r>
              <a:rPr lang="en-US" altLang="zh-CN"/>
              <a:t>10</a:t>
            </a:r>
            <a:r>
              <a:rPr lang="zh-CN" altLang="en-US"/>
              <a:t>以内，所以直接矩阵模拟填数</a:t>
            </a:r>
            <a:r>
              <a:rPr lang="zh-CN" altLang="en-US"/>
              <a:t>即可。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做法二：</a:t>
            </a:r>
            <a:r>
              <a:rPr lang="en-US" altLang="zh-CN"/>
              <a:t>floor[ai/n]+1</a:t>
            </a:r>
            <a:r>
              <a:rPr lang="zh-CN" altLang="en-US"/>
              <a:t>为列数，行数分奇偶</a:t>
            </a:r>
            <a:r>
              <a:rPr lang="zh-CN" altLang="en-US"/>
              <a:t>讨论。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异或和（xor）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115" y="2794000"/>
            <a:ext cx="7055485" cy="3532505"/>
          </a:xfrm>
        </p:spPr>
        <p:txBody>
          <a:bodyPr>
            <a:noAutofit/>
          </a:bodyPr>
          <a:p>
            <a:r>
              <a:rPr lang="zh-CN" altLang="en-US" sz="2000">
                <a:highlight>
                  <a:srgbClr val="FFFF00"/>
                </a:highlight>
              </a:rPr>
              <a:t>特殊性质</a:t>
            </a:r>
            <a:r>
              <a:rPr lang="en-US" altLang="zh-CN" sz="2000">
                <a:highlight>
                  <a:srgbClr val="FFFF00"/>
                </a:highlight>
              </a:rPr>
              <a:t>A</a:t>
            </a:r>
            <a:r>
              <a:rPr lang="zh-CN" altLang="en-US" sz="2000">
                <a:highlight>
                  <a:srgbClr val="FFFF00"/>
                </a:highlight>
              </a:rPr>
              <a:t>：所有</a:t>
            </a:r>
            <a:r>
              <a:rPr lang="en-US" altLang="zh-CN" sz="2000">
                <a:highlight>
                  <a:srgbClr val="FFFF00"/>
                </a:highlight>
              </a:rPr>
              <a:t>ai</a:t>
            </a:r>
            <a:r>
              <a:rPr lang="zh-CN" altLang="en-US" sz="2000">
                <a:highlight>
                  <a:srgbClr val="FFFF00"/>
                </a:highlight>
              </a:rPr>
              <a:t>，</a:t>
            </a:r>
            <a:r>
              <a:rPr lang="en-US" altLang="zh-CN" sz="2000">
                <a:highlight>
                  <a:srgbClr val="FFFF00"/>
                </a:highlight>
              </a:rPr>
              <a:t>k=1</a:t>
            </a:r>
            <a:endParaRPr lang="en-US" altLang="zh-CN" sz="2000">
              <a:highlight>
                <a:srgbClr val="FFFF00"/>
              </a:highlight>
            </a:endParaRPr>
          </a:p>
          <a:p>
            <a:r>
              <a:rPr lang="zh-CN" altLang="en-US" sz="2000"/>
              <a:t>那么只有当区间长度为偶数时异或为</a:t>
            </a:r>
            <a:r>
              <a:rPr lang="en-US" altLang="zh-CN" sz="2000"/>
              <a:t>0</a:t>
            </a:r>
            <a:r>
              <a:rPr lang="zh-CN" altLang="en-US" sz="2000"/>
              <a:t>。因此答案为</a:t>
            </a:r>
            <a:r>
              <a:rPr lang="en-US" altLang="zh-CN" sz="2000"/>
              <a:t>n/2</a:t>
            </a:r>
            <a:r>
              <a:rPr lang="zh-CN" altLang="en-US" sz="2000"/>
              <a:t>。可得</a:t>
            </a:r>
            <a:r>
              <a:rPr lang="en-US" altLang="zh-CN" sz="2000"/>
              <a:t>10pts.</a:t>
            </a:r>
            <a:endParaRPr lang="en-US" altLang="zh-CN" sz="2000"/>
          </a:p>
          <a:p>
            <a:r>
              <a:rPr lang="zh-CN" altLang="en-US" sz="2000">
                <a:highlight>
                  <a:srgbClr val="FFFF00"/>
                </a:highlight>
              </a:rPr>
              <a:t>特殊性质</a:t>
            </a:r>
            <a:r>
              <a:rPr lang="en-US" altLang="zh-CN" sz="2000">
                <a:highlight>
                  <a:srgbClr val="FFFF00"/>
                </a:highlight>
              </a:rPr>
              <a:t>B</a:t>
            </a:r>
            <a:r>
              <a:rPr lang="zh-CN" altLang="en-US" sz="2000">
                <a:highlight>
                  <a:srgbClr val="FFFF00"/>
                </a:highlight>
              </a:rPr>
              <a:t>：</a:t>
            </a:r>
            <a:r>
              <a:rPr lang="en-US" altLang="zh-CN" sz="2000">
                <a:highlight>
                  <a:srgbClr val="FFFF00"/>
                </a:highlight>
              </a:rPr>
              <a:t>ai</a:t>
            </a:r>
            <a:r>
              <a:rPr lang="zh-CN" altLang="en-US" sz="2000">
                <a:highlight>
                  <a:srgbClr val="FFFF00"/>
                </a:highlight>
              </a:rPr>
              <a:t>，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k</a:t>
            </a:r>
            <a:r>
              <a:rPr lang="en-US" altLang="zh-CN" sz="2000">
                <a:highlight>
                  <a:srgbClr val="FFFF00"/>
                </a:highlight>
              </a:rPr>
              <a:t>={0,1}</a:t>
            </a:r>
            <a:endParaRPr lang="en-US" altLang="zh-CN" sz="2000">
              <a:highlight>
                <a:srgbClr val="FFFF00"/>
              </a:highlight>
            </a:endParaRPr>
          </a:p>
          <a:p>
            <a:r>
              <a:rPr lang="zh-CN" altLang="en-US" sz="2000"/>
              <a:t>按</a:t>
            </a:r>
            <a:r>
              <a:rPr lang="en-US" altLang="zh-CN" sz="2000"/>
              <a:t>ai</a:t>
            </a:r>
            <a:r>
              <a:rPr lang="zh-CN" altLang="en-US" sz="2000"/>
              <a:t>和</a:t>
            </a:r>
            <a:r>
              <a:rPr lang="en-US" altLang="zh-CN" sz="2000"/>
              <a:t>k</a:t>
            </a:r>
            <a:r>
              <a:rPr lang="zh-CN" altLang="en-US" sz="2000"/>
              <a:t>的取值分四类情况讨论即可，可得</a:t>
            </a:r>
            <a:r>
              <a:rPr lang="en-US" altLang="zh-CN" sz="2000"/>
              <a:t>15</a:t>
            </a:r>
            <a:r>
              <a:rPr lang="en-US" altLang="zh-CN" sz="2000"/>
              <a:t>pts.</a:t>
            </a:r>
            <a:endParaRPr lang="en-US" altLang="zh-CN" sz="2000"/>
          </a:p>
          <a:p>
            <a:endParaRPr lang="zh-CN" altLang="en-US" sz="2000"/>
          </a:p>
          <a:p>
            <a:pPr marL="0" indent="0">
              <a:buNone/>
            </a:pPr>
            <a:endParaRPr lang="zh-CN" altLang="en-US" sz="2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7815" y="1872615"/>
            <a:ext cx="43053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80670"/>
            <a:ext cx="10515600" cy="1325563"/>
          </a:xfrm>
        </p:spPr>
        <p:txBody>
          <a:bodyPr/>
          <a:p>
            <a:r>
              <a:rPr lang="zh-CN" altLang="en-US"/>
              <a:t>异或和（xor）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795" y="1606550"/>
            <a:ext cx="10899775" cy="4876800"/>
          </a:xfrm>
        </p:spPr>
        <p:txBody>
          <a:bodyPr>
            <a:noAutofit/>
          </a:bodyPr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1">
                <a:highlight>
                  <a:srgbClr val="FFFF00"/>
                </a:highlight>
                <a:sym typeface="+mn-ea"/>
              </a:rPr>
              <a:t>暴力做法：</a:t>
            </a:r>
            <a:endParaRPr lang="zh-CN" altLang="en-US" sz="2000" b="1"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>
                <a:sym typeface="+mn-ea"/>
              </a:rPr>
              <a:t>忽略掉区间不相交的条件，如果问的是可以重叠的异或和为 k 的区间数量，应该怎么做呢？</a:t>
            </a:r>
            <a:endParaRPr lang="zh-CN" altLang="en-US" sz="2000" b="1"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预处理出序列每个位置的前缀异或，那么就可以枚举区间的左右端点，用 O(n</a:t>
            </a:r>
            <a:r>
              <a:rPr lang="zh-CN" altLang="en-US" sz="2000" baseline="30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）的时间复杂度找出所有异或为 k 的区间。（</a:t>
            </a:r>
            <a:r>
              <a:rPr lang="en-US" altLang="zh-CN" sz="2000">
                <a:sym typeface="+mn-ea"/>
              </a:rPr>
              <a:t>OR[l,r]=OR[1,r]^OR[1,l-1]</a:t>
            </a:r>
            <a:r>
              <a:rPr lang="zh-CN" altLang="en-US" sz="2000">
                <a:sym typeface="+mn-ea"/>
              </a:rPr>
              <a:t>）</a:t>
            </a:r>
            <a:endParaRPr lang="zh-CN" altLang="en-US" sz="2000"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>
                <a:sym typeface="+mn-ea"/>
              </a:rPr>
              <a:t>此时问题转化为：从若干</a:t>
            </a:r>
            <a:r>
              <a:rPr lang="zh-CN" altLang="en-US" sz="2000" b="1">
                <a:sym typeface="+mn-ea"/>
              </a:rPr>
              <a:t>异或为 k 的区间中尽可能多的不相交区间</a:t>
            </a:r>
            <a:r>
              <a:rPr lang="zh-CN" altLang="en-US" sz="2000" b="1">
                <a:sym typeface="+mn-ea"/>
              </a:rPr>
              <a:t>？</a:t>
            </a:r>
            <a:endParaRPr lang="zh-CN" altLang="en-US" sz="2000" b="1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/>
              <a:t>我们可以</a:t>
            </a:r>
            <a:r>
              <a:rPr lang="zh-CN" altLang="en-US" sz="2000"/>
              <a:t>贪心：</a:t>
            </a:r>
            <a:endParaRPr lang="zh-CN" altLang="en-US" sz="2000"/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 altLang="zh-CN" sz="2000"/>
              <a:t>1. </a:t>
            </a:r>
            <a:r>
              <a:rPr lang="zh-CN" altLang="en-US" sz="2000"/>
              <a:t>将选出来的区间按照右端点排序。</a:t>
            </a:r>
            <a:endParaRPr lang="zh-CN" altLang="en-US" sz="2000"/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 altLang="zh-CN" sz="2000"/>
              <a:t>2. </a:t>
            </a:r>
            <a:r>
              <a:rPr lang="zh-CN" altLang="en-US" sz="2000"/>
              <a:t>然后从左到右扫描一遍所有区间并在过程</a:t>
            </a:r>
            <a:r>
              <a:rPr lang="zh-CN" altLang="en-US" sz="2000"/>
              <a:t>中记录上一次选择的区间的右端点</a:t>
            </a:r>
            <a:endParaRPr lang="zh-CN" altLang="en-US" sz="2000"/>
          </a:p>
          <a:p>
            <a:pPr marL="457200" lvl="1" indent="457200">
              <a:buFont typeface="Arial" panose="020B0604020202020204" pitchFamily="34" charset="0"/>
              <a:buNone/>
            </a:pPr>
            <a:r>
              <a:rPr lang="zh-CN" altLang="en-US" sz="2000"/>
              <a:t>如果当前区间的左端点大于上一个选择的区间的右端点，则说明这个区间可以接到上一个选择的区间后面，此时答案加一，并更新已选择区间的右端点。</a:t>
            </a:r>
            <a:endParaRPr lang="zh-CN" altLang="en-US" sz="2000"/>
          </a:p>
          <a:p>
            <a:pPr marL="457200" lvl="1" indent="457200">
              <a:buFont typeface="Arial" panose="020B0604020202020204" pitchFamily="34" charset="0"/>
              <a:buNone/>
            </a:pPr>
            <a:endParaRPr lang="zh-CN" altLang="en-US" sz="2000"/>
          </a:p>
          <a:p>
            <a:r>
              <a:rPr lang="zh-CN" altLang="en-US" sz="2000"/>
              <a:t>时复分析：预处理的时复</a:t>
            </a:r>
            <a:r>
              <a:rPr lang="en-US" altLang="zh-CN" sz="2000"/>
              <a:t>n</a:t>
            </a:r>
            <a:r>
              <a:rPr lang="en-US" altLang="zh-CN" sz="2000" baseline="30000"/>
              <a:t>2</a:t>
            </a:r>
            <a:r>
              <a:rPr lang="en-US" altLang="zh-CN" sz="2000"/>
              <a:t>, </a:t>
            </a:r>
            <a:r>
              <a:rPr lang="zh-CN" altLang="en-US" sz="2000"/>
              <a:t>由于最多会选出 n</a:t>
            </a:r>
            <a:r>
              <a:rPr lang="zh-CN" altLang="en-US" sz="2000" baseline="30000"/>
              <a:t>2</a:t>
            </a:r>
            <a:r>
              <a:rPr lang="zh-CN" altLang="en-US" sz="2000"/>
              <a:t> 数量级的区间，且涉及到区间排序，因此这种做法的时间复杂度为 n</a:t>
            </a:r>
            <a:r>
              <a:rPr lang="zh-CN" altLang="en-US" sz="2000" baseline="30000"/>
              <a:t>2</a:t>
            </a:r>
            <a:r>
              <a:rPr lang="zh-CN" altLang="en-US" sz="2000"/>
              <a:t>logn</a:t>
            </a:r>
            <a:r>
              <a:rPr lang="en-US" altLang="zh-CN" sz="2000" baseline="30000"/>
              <a:t>2</a:t>
            </a:r>
            <a:r>
              <a:rPr lang="zh-CN" altLang="en-US" sz="2000"/>
              <a:t>，可得</a:t>
            </a:r>
            <a:r>
              <a:rPr lang="en-US" altLang="zh-CN" sz="2000"/>
              <a:t>60pts</a:t>
            </a:r>
            <a:endParaRPr lang="en-US" altLang="zh-CN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异或和（xor）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4805" y="1825625"/>
            <a:ext cx="11008995" cy="43516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400" b="1">
                <a:highlight>
                  <a:srgbClr val="FFFF00"/>
                </a:highlight>
              </a:rPr>
              <a:t>正解</a:t>
            </a:r>
            <a:endParaRPr lang="zh-CN" altLang="en-US" sz="2400" b="1">
              <a:highlight>
                <a:srgbClr val="FFFF00"/>
              </a:highlight>
            </a:endParaRPr>
          </a:p>
          <a:p>
            <a:r>
              <a:rPr lang="zh-CN" altLang="en-US" sz="2400"/>
              <a:t>用 dp[i] 记录前 i 个数中满足条件的区间个数，考虑 a[i] 选或者不选：</a:t>
            </a:r>
            <a:endParaRPr lang="zh-CN" altLang="en-US" sz="2400"/>
          </a:p>
          <a:p>
            <a:pPr lvl="1"/>
            <a:r>
              <a:rPr lang="zh-CN" altLang="en-US"/>
              <a:t>不选 a[i] : dp[i]=dp[i-1]</a:t>
            </a:r>
            <a:endParaRPr lang="zh-CN" altLang="en-US"/>
          </a:p>
          <a:p>
            <a:pPr lvl="1"/>
            <a:r>
              <a:rPr lang="zh-CN" altLang="en-US"/>
              <a:t>选 a[i] : 以 a[i] 为区间的右端点，假设到 a[i] 的异或为 tmp ，那么这个区间</a:t>
            </a:r>
            <a:endParaRPr lang="zh-CN" altLang="en-US"/>
          </a:p>
          <a:p>
            <a:pPr marL="0" indent="0">
              <a:buNone/>
            </a:pPr>
            <a:r>
              <a:rPr lang="zh-CN" altLang="en-US" sz="2400"/>
              <a:t>的左端点就是 tmp</a:t>
            </a:r>
            <a:r>
              <a:rPr lang="en-US" altLang="zh-CN" sz="2400"/>
              <a:t>^</a:t>
            </a:r>
            <a:r>
              <a:rPr lang="zh-CN" altLang="en-US" sz="2400"/>
              <a:t>k, 因此 dp[i] 应当从一个前缀异或为 tmp</a:t>
            </a:r>
            <a:r>
              <a:rPr lang="en-US" altLang="zh-CN" sz="2400"/>
              <a:t>^</a:t>
            </a:r>
            <a:r>
              <a:rPr lang="zh-CN" altLang="en-US" sz="2400"/>
              <a:t>k 位置转移过来，因此我们用 map&lt;int, int&gt; </a:t>
            </a:r>
            <a:r>
              <a:rPr lang="en-US" altLang="zh-CN" sz="2400"/>
              <a:t>pos</a:t>
            </a:r>
            <a:r>
              <a:rPr lang="zh-CN" altLang="en-US" sz="2400"/>
              <a:t> 来维护每个前缀异或的最后一个右端点位置（因为在转移时，假设有多个前缀异或为 tmp</a:t>
            </a:r>
            <a:r>
              <a:rPr lang="en-US" altLang="zh-CN" sz="2400"/>
              <a:t>^</a:t>
            </a:r>
            <a:r>
              <a:rPr lang="zh-CN" altLang="en-US" sz="2400"/>
              <a:t>k 的位置，一定从最后一个满足条件的位置转移更优）因此：dp[i] = dp[</a:t>
            </a:r>
            <a:r>
              <a:rPr lang="en-US" altLang="zh-CN" sz="2400"/>
              <a:t>pos</a:t>
            </a:r>
            <a:r>
              <a:rPr lang="zh-CN" altLang="en-US" sz="2400"/>
              <a:t>[tmp</a:t>
            </a:r>
            <a:r>
              <a:rPr lang="en-US" altLang="zh-CN" sz="2400"/>
              <a:t>^</a:t>
            </a:r>
            <a:r>
              <a:rPr lang="zh-CN" altLang="en-US" sz="2400"/>
              <a:t>k]] + 1 。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  <a:p>
            <a:r>
              <a:rPr lang="zh-CN" altLang="en-US" sz="2400"/>
              <a:t>这两种转移方式取 max 即可，最后的答案为 dp[n] 。</a:t>
            </a:r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多边形（polygon）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25645" y="1825625"/>
            <a:ext cx="6828155" cy="43516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000" b="1">
                <a:highlight>
                  <a:srgbClr val="FFFF00"/>
                </a:highlight>
              </a:rPr>
              <a:t>测试点</a:t>
            </a:r>
            <a:r>
              <a:rPr lang="en-US" altLang="zh-CN" sz="2000" b="1">
                <a:highlight>
                  <a:srgbClr val="FFFF00"/>
                </a:highlight>
              </a:rPr>
              <a:t>1~3</a:t>
            </a:r>
            <a:r>
              <a:rPr lang="zh-CN" altLang="en-US" sz="2000" b="1">
                <a:highlight>
                  <a:srgbClr val="FFFF00"/>
                </a:highlight>
              </a:rPr>
              <a:t>：n ≤ 3</a:t>
            </a:r>
            <a:endParaRPr lang="zh-CN" altLang="en-US" sz="2000" b="1">
              <a:highlight>
                <a:srgbClr val="FFFF00"/>
              </a:highlight>
            </a:endParaRPr>
          </a:p>
          <a:p>
            <a:r>
              <a:rPr lang="zh-CN" altLang="en-US" sz="2000"/>
              <a:t>n = 1, 2 直接输出 0。n = 3 判断最大值是否小于另外两个数之和即可。可获得 12pts。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 b="1">
                <a:highlight>
                  <a:srgbClr val="FFFF00"/>
                </a:highlight>
              </a:rPr>
              <a:t>测试点</a:t>
            </a:r>
            <a:r>
              <a:rPr lang="en-US" altLang="zh-CN" sz="2000" b="1">
                <a:highlight>
                  <a:srgbClr val="FFFF00"/>
                </a:highlight>
              </a:rPr>
              <a:t>15~20</a:t>
            </a:r>
            <a:r>
              <a:rPr lang="zh-CN" altLang="en-US" sz="2000" b="1">
                <a:highlight>
                  <a:srgbClr val="FFFF00"/>
                </a:highlight>
              </a:rPr>
              <a:t>：ai = 1</a:t>
            </a:r>
            <a:endParaRPr lang="zh-CN" altLang="en-US" sz="2000" b="1">
              <a:highlight>
                <a:srgbClr val="FFFF00"/>
              </a:highlight>
            </a:endParaRPr>
          </a:p>
          <a:p>
            <a:r>
              <a:rPr lang="zh-CN" altLang="en-US" sz="2000"/>
              <a:t>显然任取 3 根及以上小木棍都满足条件，于是该部分 ans = 2</a:t>
            </a:r>
            <a:r>
              <a:rPr lang="zh-CN" altLang="en-US" sz="2000" baseline="30000"/>
              <a:t>n</a:t>
            </a:r>
            <a:r>
              <a:rPr lang="zh-CN" altLang="en-US" sz="2000"/>
              <a:t> − 1 − </a:t>
            </a:r>
            <a:r>
              <a:rPr lang="en-US" altLang="zh-CN" sz="2000"/>
              <a:t>C(n,1)</a:t>
            </a:r>
            <a:r>
              <a:rPr lang="zh-CN" altLang="en-US" sz="2000"/>
              <a:t>− C</a:t>
            </a:r>
            <a:r>
              <a:rPr lang="en-US" altLang="zh-CN" sz="2000"/>
              <a:t>(n,2)</a:t>
            </a:r>
            <a:r>
              <a:rPr lang="zh-CN" altLang="en-US" sz="2000"/>
              <a:t>，直接输出可获得 24pts，结合 n ≤ 3 的部分可以得到 36pts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 b="1">
                <a:highlight>
                  <a:srgbClr val="FFFF00"/>
                </a:highlight>
                <a:sym typeface="+mn-ea"/>
              </a:rPr>
              <a:t>测试点</a:t>
            </a:r>
            <a:r>
              <a:rPr lang="en-US" altLang="zh-CN" sz="2000" b="1">
                <a:highlight>
                  <a:srgbClr val="FFFF00"/>
                </a:highlight>
                <a:sym typeface="+mn-ea"/>
              </a:rPr>
              <a:t>4~10</a:t>
            </a:r>
            <a:r>
              <a:rPr lang="zh-CN" altLang="en-US" sz="2000" b="1">
                <a:highlight>
                  <a:srgbClr val="FFFF00"/>
                </a:highlight>
                <a:sym typeface="+mn-ea"/>
              </a:rPr>
              <a:t>：n ≤ 20</a:t>
            </a:r>
            <a:endParaRPr lang="zh-CN" altLang="en-US" sz="2000" b="1">
              <a:highlight>
                <a:srgbClr val="FFFF00"/>
              </a:highlight>
            </a:endParaRPr>
          </a:p>
          <a:p>
            <a:r>
              <a:rPr lang="zh-CN" altLang="en-US" sz="2000">
                <a:sym typeface="+mn-ea"/>
              </a:rPr>
              <a:t>直接暴力</a:t>
            </a:r>
            <a:r>
              <a:rPr lang="en-US" altLang="zh-CN" sz="2000">
                <a:sym typeface="+mn-ea"/>
              </a:rPr>
              <a:t>dfs</a:t>
            </a:r>
            <a:r>
              <a:rPr lang="zh-CN" altLang="en-US" sz="2000">
                <a:sym typeface="+mn-ea"/>
              </a:rPr>
              <a:t>列举所以选数方案并判断是否合法即可，一共有 2</a:t>
            </a:r>
            <a:r>
              <a:rPr lang="zh-CN" altLang="en-US" sz="2000" baseline="30000">
                <a:sym typeface="+mn-ea"/>
              </a:rPr>
              <a:t>n</a:t>
            </a:r>
            <a:r>
              <a:rPr lang="zh-CN" altLang="en-US" sz="2000">
                <a:sym typeface="+mn-ea"/>
              </a:rPr>
              <a:t> 种选数</a:t>
            </a:r>
            <a:r>
              <a:rPr lang="zh-CN" altLang="en-US" sz="2000">
                <a:sym typeface="+mn-ea"/>
              </a:rPr>
              <a:t>方案，O(n) 判断是否合法，复杂度 O(n2</a:t>
            </a:r>
            <a:r>
              <a:rPr lang="zh-CN" altLang="en-US" sz="2000" baseline="30000">
                <a:sym typeface="+mn-ea"/>
              </a:rPr>
              <a:t>n</a:t>
            </a:r>
            <a:r>
              <a:rPr lang="zh-CN" altLang="en-US" sz="2000">
                <a:sym typeface="+mn-ea"/>
              </a:rPr>
              <a:t>)，结合 ai = 1 的部分可获得 64pts。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3895" y="2244090"/>
            <a:ext cx="367665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多边形（polygon）</a:t>
            </a:r>
            <a:endParaRPr lang="zh-CN" altLang="en-US"/>
          </a:p>
        </p:txBody>
      </p:sp>
      <p:sp>
        <p:nvSpPr>
          <p:cNvPr id="3" name="内容占位符 2" descr="7b0a2020202022776f7264617274223a20227b5c2269645c223a32353030313432362c5c227469645c223a5c225c227d220a7d0a"/>
          <p:cNvSpPr>
            <a:spLocks noGrp="1"/>
          </p:cNvSpPr>
          <p:nvPr>
            <p:ph idx="1"/>
          </p:nvPr>
        </p:nvSpPr>
        <p:spPr>
          <a:xfrm>
            <a:off x="663575" y="1558925"/>
            <a:ext cx="10637520" cy="4960620"/>
          </a:xfrm>
        </p:spPr>
        <p:txBody>
          <a:bodyPr>
            <a:noAutofit/>
            <a:scene3d>
              <a:camera prst="obliqueBottomRight">
                <a:rot lat="0" lon="0" rev="0"/>
              </a:camera>
              <a:lightRig rig="threePt" dir="t"/>
            </a:scene3d>
          </a:bodyPr>
          <a:p>
            <a:pPr marL="0" indent="0">
              <a:buNone/>
            </a:pPr>
            <a:r>
              <a:rPr lang="zh-CN" altLang="en-US" sz="2000" b="1">
                <a:highlight>
                  <a:srgbClr val="FFFF00"/>
                </a:highlight>
              </a:rPr>
              <a:t>测试点</a:t>
            </a:r>
            <a:r>
              <a:rPr lang="en-US" altLang="zh-CN" sz="2000" b="1">
                <a:highlight>
                  <a:srgbClr val="FFFF00"/>
                </a:highlight>
              </a:rPr>
              <a:t>11~17</a:t>
            </a:r>
            <a:r>
              <a:rPr lang="zh-CN" altLang="en-US" sz="2000" b="1">
                <a:highlight>
                  <a:srgbClr val="FFFF00"/>
                </a:highlight>
              </a:rPr>
              <a:t>：n ≤ 500 ，max ≤ 100</a:t>
            </a:r>
            <a:endParaRPr lang="zh-CN" altLang="en-US" sz="2000" b="1">
              <a:highlight>
                <a:srgbClr val="FFFF00"/>
              </a:highlight>
            </a:endParaRPr>
          </a:p>
          <a:p>
            <a:r>
              <a:rPr lang="zh-CN" altLang="en-US" sz="2000"/>
              <a:t>若我们已经知道了最长木根</a:t>
            </a:r>
            <a:r>
              <a:rPr lang="en-US" altLang="zh-CN" sz="2000"/>
              <a:t>i</a:t>
            </a:r>
            <a:r>
              <a:rPr lang="zh-CN" altLang="en-US" sz="2000"/>
              <a:t>，那么问题就可以转化为</a:t>
            </a:r>
            <a:r>
              <a:rPr lang="en-US" altLang="zh-CN" sz="2000"/>
              <a:t>1</a:t>
            </a:r>
            <a:r>
              <a:rPr lang="zh-CN" altLang="en-US" sz="2000"/>
              <a:t>个类似</a:t>
            </a:r>
            <a:r>
              <a:rPr lang="en-US" altLang="zh-CN" sz="2000"/>
              <a:t>0/1</a:t>
            </a:r>
            <a:r>
              <a:rPr lang="zh-CN" altLang="en-US" sz="2000"/>
              <a:t>背包的</a:t>
            </a:r>
            <a:r>
              <a:rPr lang="en-US" altLang="zh-CN" sz="2000"/>
              <a:t>DP</a:t>
            </a:r>
            <a:r>
              <a:rPr lang="zh-CN" altLang="en-US" sz="2000"/>
              <a:t>模型：</a:t>
            </a:r>
            <a:r>
              <a:rPr lang="en-US" altLang="zh-CN" sz="2000"/>
              <a:t> </a:t>
            </a:r>
            <a:r>
              <a:rPr lang="zh-CN" altLang="en-US" sz="2000"/>
              <a:t>在</a:t>
            </a:r>
            <a:r>
              <a:rPr lang="en-US" altLang="zh-CN" sz="2000"/>
              <a:t>n</a:t>
            </a:r>
            <a:r>
              <a:rPr lang="zh-CN" altLang="en-US" sz="2000"/>
              <a:t>个木根选出长度和</a:t>
            </a:r>
            <a:r>
              <a:rPr lang="en-US" altLang="zh-CN" sz="2000"/>
              <a:t>&gt;=ai</a:t>
            </a:r>
            <a:r>
              <a:rPr lang="zh-CN" altLang="en-US" sz="2000"/>
              <a:t>的方案数。</a:t>
            </a:r>
            <a:r>
              <a:rPr lang="en-US" altLang="zh-CN" sz="2000"/>
              <a:t>DP</a:t>
            </a:r>
            <a:r>
              <a:rPr lang="zh-CN" altLang="en-US" sz="2000"/>
              <a:t>状态为：</a:t>
            </a:r>
            <a:r>
              <a:rPr lang="zh-CN" altLang="en-US" sz="2000">
                <a:sym typeface="+mn-ea"/>
              </a:rPr>
              <a:t>dp</a:t>
            </a:r>
            <a:r>
              <a:rPr lang="en-US" altLang="zh-CN" sz="2000">
                <a:sym typeface="+mn-ea"/>
              </a:rPr>
              <a:t>(i,j)</a:t>
            </a:r>
            <a:r>
              <a:rPr lang="zh-CN" altLang="en-US" sz="2000" baseline="-25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表示到前</a:t>
            </a:r>
            <a:r>
              <a:rPr lang="en-US" altLang="zh-CN" sz="2000">
                <a:sym typeface="+mn-ea"/>
              </a:rPr>
              <a:t>i</a:t>
            </a:r>
            <a:r>
              <a:rPr lang="zh-CN" altLang="en-US" sz="2000">
                <a:sym typeface="+mn-ea"/>
              </a:rPr>
              <a:t>根木根长度和为 </a:t>
            </a:r>
            <a:r>
              <a:rPr lang="en-US" altLang="zh-CN" sz="2000">
                <a:sym typeface="+mn-ea"/>
              </a:rPr>
              <a:t>j</a:t>
            </a:r>
            <a:r>
              <a:rPr lang="zh-CN" altLang="en-US" sz="2000">
                <a:sym typeface="+mn-ea"/>
              </a:rPr>
              <a:t> 的方案数。</a:t>
            </a:r>
            <a:endParaRPr lang="zh-CN" altLang="en-US" sz="2000"/>
          </a:p>
          <a:p>
            <a:r>
              <a:rPr lang="zh-CN" altLang="en-US" sz="2000"/>
              <a:t>因此我们先对木根从小到大排序。进行转移式更新</a:t>
            </a:r>
            <a:r>
              <a:rPr lang="en-US" altLang="zh-CN" sz="2000"/>
              <a:t>dp</a:t>
            </a:r>
            <a:r>
              <a:rPr lang="zh-CN" altLang="en-US" sz="2000"/>
              <a:t>数组</a:t>
            </a:r>
            <a:r>
              <a:rPr lang="zh-CN" altLang="en-US" sz="2000"/>
              <a:t>即可：</a:t>
            </a:r>
            <a:endParaRPr lang="zh-CN" altLang="en-US" sz="2000"/>
          </a:p>
          <a:p>
            <a:pPr marL="457200" lvl="1" indent="457200">
              <a:buNone/>
            </a:pPr>
            <a:r>
              <a:rPr lang="zh-CN" altLang="en-US" sz="2000"/>
              <a:t>不选</a:t>
            </a:r>
            <a:r>
              <a:rPr lang="en-US" altLang="zh-CN" sz="2000"/>
              <a:t>ai</a:t>
            </a:r>
            <a:r>
              <a:rPr lang="zh-CN" altLang="en-US" sz="2000"/>
              <a:t>：</a:t>
            </a:r>
            <a:r>
              <a:rPr lang="en-US" altLang="zh-CN" sz="2000"/>
              <a:t>dp(i,j)=dp(i-1,j)  </a:t>
            </a:r>
            <a:r>
              <a:rPr lang="en-US" altLang="zh-CN" sz="2000" b="1"/>
              <a:t> </a:t>
            </a:r>
            <a:endParaRPr lang="en-US" altLang="zh-CN" sz="2000" b="1"/>
          </a:p>
          <a:p>
            <a:pPr marL="457200" lvl="1" indent="457200">
              <a:buNone/>
            </a:pPr>
            <a:r>
              <a:rPr lang="en-US" altLang="zh-CN" sz="2000">
                <a:sym typeface="+mn-ea"/>
              </a:rPr>
              <a:t>(</a:t>
            </a:r>
            <a:r>
              <a:rPr lang="zh-CN" altLang="en-US" sz="2000">
                <a:sym typeface="+mn-ea"/>
              </a:rPr>
              <a:t>满足</a:t>
            </a:r>
            <a:r>
              <a:rPr lang="en-US" altLang="zh-CN" sz="2000">
                <a:sym typeface="+mn-ea"/>
              </a:rPr>
              <a:t>j&gt;=2*ai)</a:t>
            </a:r>
            <a:r>
              <a:rPr lang="zh-CN" altLang="en-US" sz="2000">
                <a:sym typeface="+mn-ea"/>
              </a:rPr>
              <a:t>选</a:t>
            </a:r>
            <a:r>
              <a:rPr lang="en-US" altLang="zh-CN" sz="2000">
                <a:sym typeface="+mn-ea"/>
              </a:rPr>
              <a:t>ai</a:t>
            </a:r>
            <a:r>
              <a:rPr lang="zh-CN" altLang="en-US" sz="2000">
                <a:sym typeface="+mn-ea"/>
              </a:rPr>
              <a:t>：</a:t>
            </a:r>
            <a:r>
              <a:rPr lang="en-US" altLang="zh-CN" sz="2000">
                <a:sym typeface="+mn-ea"/>
              </a:rPr>
              <a:t>    dp(i,j)+=dp(i-1,j-ai)   </a:t>
            </a:r>
            <a:endParaRPr lang="zh-CN" altLang="en-US" sz="2000"/>
          </a:p>
          <a:p>
            <a:pPr marL="0" lv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与 01 背包类似，每次从大到小枚举 k 可以将 dp 数组压缩成一维。</a:t>
            </a:r>
            <a:endParaRPr lang="zh-CN" altLang="en-US" sz="2000"/>
          </a:p>
          <a:p>
            <a:r>
              <a:rPr lang="zh-CN" altLang="en-US" sz="2000"/>
              <a:t>由于</a:t>
            </a:r>
            <a:r>
              <a:rPr lang="en-US" altLang="zh-CN" sz="2000"/>
              <a:t>j</a:t>
            </a:r>
            <a:r>
              <a:rPr lang="zh-CN" altLang="en-US" sz="2000"/>
              <a:t>的上界是数组中所有数字之和，即 O(n · max)，于是该做法的复杂度是O(n</a:t>
            </a:r>
            <a:r>
              <a:rPr lang="zh-CN" altLang="en-US" sz="2000" baseline="30000"/>
              <a:t>2</a:t>
            </a:r>
            <a:r>
              <a:rPr lang="zh-CN" altLang="en-US" sz="2000"/>
              <a:t>· max)，结合 ai = 1 的部分可获得 80pts。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highlight>
                  <a:srgbClr val="FFFF00"/>
                </a:highlight>
              </a:rPr>
              <a:t>正解：</a:t>
            </a:r>
            <a:endParaRPr lang="zh-CN" altLang="en-US" sz="2000">
              <a:highlight>
                <a:srgbClr val="FFFF00"/>
              </a:highlight>
            </a:endParaRPr>
          </a:p>
          <a:p>
            <a:r>
              <a:rPr lang="zh-CN" altLang="en-US" sz="2000"/>
              <a:t>当枚举到 ai 作为最长的木棍时，1 ∼ i − 1 可选的总方案数是 2</a:t>
            </a:r>
            <a:r>
              <a:rPr lang="zh-CN" altLang="en-US" sz="2000" baseline="30000"/>
              <a:t>i−1</a:t>
            </a:r>
            <a:r>
              <a:rPr lang="zh-CN" altLang="en-US" sz="2000"/>
              <a:t>，我们没必要统计 </a:t>
            </a:r>
            <a:r>
              <a:rPr lang="en-US" altLang="zh-CN" sz="2000"/>
              <a:t>j</a:t>
            </a:r>
            <a:r>
              <a:rPr lang="zh-CN" altLang="en-US" sz="2000"/>
              <a:t> &gt; ai 的贡献而只要统计 </a:t>
            </a:r>
            <a:r>
              <a:rPr lang="en-US" altLang="zh-CN" sz="2000"/>
              <a:t>j</a:t>
            </a:r>
            <a:r>
              <a:rPr lang="zh-CN" altLang="en-US" sz="2000"/>
              <a:t>≤ ai 的部分，再用总数减一减即可，即第 i 根木棍对答案的贡献是 2</a:t>
            </a:r>
            <a:r>
              <a:rPr lang="zh-CN" altLang="en-US" sz="2000" baseline="30000"/>
              <a:t>i−1</a:t>
            </a:r>
            <a:r>
              <a:rPr lang="zh-CN" altLang="en-US" sz="2000"/>
              <a:t> −∑dp</a:t>
            </a:r>
            <a:r>
              <a:rPr lang="zh-CN" altLang="en-US" sz="2000" baseline="-25000"/>
              <a:t>i−1,</a:t>
            </a:r>
            <a:r>
              <a:rPr lang="en-US" altLang="zh-CN" sz="2000" baseline="-25000"/>
              <a:t>j</a:t>
            </a:r>
            <a:r>
              <a:rPr lang="zh-CN" altLang="en-US" sz="2000"/>
              <a:t>。</a:t>
            </a:r>
            <a:endParaRPr lang="zh-CN" altLang="en-US" sz="2000"/>
          </a:p>
          <a:p>
            <a:r>
              <a:rPr lang="zh-CN" altLang="en-US" sz="2000"/>
              <a:t>此时 </a:t>
            </a:r>
            <a:r>
              <a:rPr lang="en-US" altLang="zh-CN" sz="2000"/>
              <a:t>j</a:t>
            </a:r>
            <a:r>
              <a:rPr lang="zh-CN" altLang="en-US" sz="2000"/>
              <a:t> 的上界变为了 O(max)，总复杂度为 O(n·max)，可以通过本题，获得 100pts。</a:t>
            </a:r>
            <a:endParaRPr lang="zh-CN" altLang="en-US"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NGNjZDVmYTA3NTA5MDA5MDc2ZjBiZWE2NmUwZWNiMW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1700</Words>
  <Application>WPS 演示</Application>
  <PresentationFormat>宽屏</PresentationFormat>
  <Paragraphs>69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拼数（number）</vt:lpstr>
      <vt:lpstr>座位（seat）</vt:lpstr>
      <vt:lpstr>异或和（xor）</vt:lpstr>
      <vt:lpstr>异或和（xor）</vt:lpstr>
      <vt:lpstr>异或和（xor）</vt:lpstr>
      <vt:lpstr>多边形（polygon）</vt:lpstr>
      <vt:lpstr>多边形（polygon）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chenille</cp:lastModifiedBy>
  <cp:revision>110</cp:revision>
  <dcterms:created xsi:type="dcterms:W3CDTF">2023-08-09T12:44:00Z</dcterms:created>
  <dcterms:modified xsi:type="dcterms:W3CDTF">2025-11-05T10:56:54Z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2052-12.1.0.23542</vt:lpwstr>
  </property>
</Properties>
</file>